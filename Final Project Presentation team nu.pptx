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us Jakarta Sans ExtraBold"/>
      <p:bold r:id="rId24"/>
      <p:boldItalic r:id="rId25"/>
    </p:embeddedFont>
    <p:embeddedFont>
      <p:font typeface="Inter SemiBold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Plus Jakarta Sans"/>
      <p:regular r:id="rId34"/>
      <p:bold r:id="rId35"/>
      <p:italic r:id="rId36"/>
      <p:boldItalic r:id="rId37"/>
    </p:embeddedFont>
    <p:embeddedFont>
      <p:font typeface="Fira Code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usJakartaSansExtraBold-bold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regular.fntdata"/><Relationship Id="rId25" Type="http://schemas.openxmlformats.org/officeDocument/2006/relationships/font" Target="fonts/PlusJakartaSansExtraBold-boldItalic.fntdata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-bold.fntdata"/><Relationship Id="rId12" Type="http://schemas.openxmlformats.org/officeDocument/2006/relationships/slide" Target="slides/slide7.xml"/><Relationship Id="rId34" Type="http://schemas.openxmlformats.org/officeDocument/2006/relationships/font" Target="fonts/PlusJakartaSans-regular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-bold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-italic.fntdata"/><Relationship Id="rId17" Type="http://schemas.openxmlformats.org/officeDocument/2006/relationships/slide" Target="slides/slide12.xml"/><Relationship Id="rId39" Type="http://schemas.openxmlformats.org/officeDocument/2006/relationships/font" Target="fonts/FiraCode-bold.fntdata"/><Relationship Id="rId16" Type="http://schemas.openxmlformats.org/officeDocument/2006/relationships/slide" Target="slides/slide11.xml"/><Relationship Id="rId38" Type="http://schemas.openxmlformats.org/officeDocument/2006/relationships/font" Target="fonts/FiraCod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782045e01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782045e01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782045e0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782045e01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8292864d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8292864df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782045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782045e0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84715c26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84715c266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84715c266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84715c266_1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84715c266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84715c266_1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84715c266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e84715c266_1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84715c266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84715c266_1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84715c266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84715c266_1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84715c266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84715c266_1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84715c26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e84715c266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84715c266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84715c266_2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5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800" y="4133463"/>
            <a:ext cx="8572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6057900"/>
            <a:ext cx="107442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04950" y="3301037"/>
            <a:ext cx="9982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5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Jan pol Obrador u231844 • Darcy Thomas Robertson u231964</a:t>
            </a:r>
            <a:endParaRPr sz="1900"/>
          </a:p>
        </p:txBody>
      </p:sp>
      <p:sp>
        <p:nvSpPr>
          <p:cNvPr id="88" name="Google Shape;88;p13"/>
          <p:cNvSpPr txBox="1"/>
          <p:nvPr/>
        </p:nvSpPr>
        <p:spPr>
          <a:xfrm>
            <a:off x="855344" y="2087612"/>
            <a:ext cx="1048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112A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BirdCLEF+ 2026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725150" y="6181725"/>
            <a:ext cx="742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B6150"/>
                </a:solidFill>
                <a:latin typeface="Fira Code"/>
                <a:ea typeface="Fira Code"/>
                <a:cs typeface="Fira Code"/>
                <a:sym typeface="Fira Code"/>
              </a:rPr>
              <a:t>SLIDE 1 / 14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4327475"/>
            <a:ext cx="273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8500" y="1450338"/>
            <a:ext cx="527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0" u="none" cap="none" strike="noStrike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CONTEXT</a:t>
            </a:r>
            <a:endParaRPr sz="1959"/>
          </a:p>
        </p:txBody>
      </p:sp>
      <p:sp>
        <p:nvSpPr>
          <p:cNvPr id="97" name="Google Shape;97;p14"/>
          <p:cNvSpPr txBox="1"/>
          <p:nvPr/>
        </p:nvSpPr>
        <p:spPr>
          <a:xfrm>
            <a:off x="908500" y="1886068"/>
            <a:ext cx="50220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883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59"/>
              <a:buFont typeface="Inter"/>
              <a:buChar char="●"/>
            </a:pPr>
            <a:r>
              <a:rPr b="1"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BirdCLEF+</a:t>
            </a:r>
            <a:r>
              <a:rPr b="1"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 2026 competition.</a:t>
            </a:r>
            <a:endParaRPr b="1" sz="1359">
              <a:solidFill>
                <a:srgbClr val="2F4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883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59"/>
              <a:buFont typeface="Inter"/>
              <a:buChar char="●"/>
            </a:pPr>
            <a:r>
              <a:rPr b="1"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r>
              <a:rPr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: Train a model that identifies species in the Pantanal region of Brazil from </a:t>
            </a:r>
            <a:r>
              <a:rPr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passive acoustic monitoring (</a:t>
            </a:r>
            <a:r>
              <a:rPr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PAM</a:t>
            </a:r>
            <a:r>
              <a:rPr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359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 recordings.</a:t>
            </a:r>
            <a:endParaRPr sz="1859"/>
          </a:p>
        </p:txBody>
      </p:sp>
      <p:sp>
        <p:nvSpPr>
          <p:cNvPr id="98" name="Google Shape;98;p14"/>
          <p:cNvSpPr txBox="1"/>
          <p:nvPr/>
        </p:nvSpPr>
        <p:spPr>
          <a:xfrm>
            <a:off x="1000603" y="3614000"/>
            <a:ext cx="48378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SzPts val="1312"/>
              <a:buChar char="●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Complex Soundscape</a:t>
            </a:r>
            <a:endParaRPr sz="1312">
              <a:solidFill>
                <a:srgbClr val="2F4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Large Class Imbalance</a:t>
            </a:r>
            <a:endParaRPr b="1" sz="1312">
              <a:solidFill>
                <a:srgbClr val="2F4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Strict RAM &amp; Compute quota</a:t>
            </a:r>
            <a:endParaRPr b="1" sz="1312">
              <a:solidFill>
                <a:srgbClr val="2F4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First time working with audio &amp; kaggle</a:t>
            </a:r>
            <a:endParaRPr b="1" sz="1312">
              <a:solidFill>
                <a:srgbClr val="2F4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&amp; Motivation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23900" y="1013370"/>
            <a:ext cx="10744200" cy="9525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1688" y="1265550"/>
            <a:ext cx="2471000" cy="1235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6">
            <a:alphaModFix/>
          </a:blip>
          <a:srcRect b="3549" l="0" r="0" t="0"/>
          <a:stretch/>
        </p:blipFill>
        <p:spPr>
          <a:xfrm>
            <a:off x="7253238" y="2743710"/>
            <a:ext cx="3667900" cy="2621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p14"/>
          <p:cNvSpPr txBox="1"/>
          <p:nvPr/>
        </p:nvSpPr>
        <p:spPr>
          <a:xfrm>
            <a:off x="908500" y="3188038"/>
            <a:ext cx="527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0" u="none" cap="none" strike="noStrike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CHALLENGES</a:t>
            </a:r>
            <a:endParaRPr sz="195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10725150" y="6181725"/>
            <a:ext cx="743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B6150"/>
                </a:solidFill>
                <a:latin typeface="Fira Code"/>
                <a:ea typeface="Fira Code"/>
                <a:cs typeface="Fira Code"/>
                <a:sym typeface="Fira Code"/>
              </a:rPr>
              <a:t>SLIDE 2 / 14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State of the Art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044551" y="1768497"/>
            <a:ext cx="2729400" cy="2433600"/>
          </a:xfrm>
          <a:prstGeom prst="roundRect">
            <a:avLst>
              <a:gd fmla="val 3699" name="adj"/>
            </a:avLst>
          </a:prstGeom>
          <a:solidFill>
            <a:srgbClr val="FFFFFF"/>
          </a:solidFill>
          <a:ln cap="flat" cmpd="sng" w="6425">
            <a:solidFill>
              <a:srgbClr val="DDE3DA"/>
            </a:solidFill>
            <a:prstDash val="solid"/>
            <a:round/>
            <a:headEnd len="sm" w="sm" type="none"/>
            <a:tailEnd len="sm" w="sm" type="none"/>
          </a:ln>
          <a:effectLst>
            <a:outerShdw blurRad="68588" rotWithShape="0" algn="bl" dir="5400000" dist="6430">
              <a:srgbClr val="14281E">
                <a:alpha val="3140"/>
              </a:srgbClr>
            </a:outerShdw>
          </a:effectLst>
        </p:spPr>
        <p:txBody>
          <a:bodyPr anchorCtr="0" anchor="ctr" bIns="61725" lIns="61725" spcFirstLastPara="1" rIns="61725" wrap="square" tIns="61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206544" y="1967832"/>
            <a:ext cx="2477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266"/>
              <a:buFont typeface="Courier New"/>
              <a:buNone/>
            </a:pPr>
            <a:r>
              <a:rPr b="1" i="0" lang="en-US" sz="1266" u="none" cap="none" strike="noStrike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01 · </a:t>
            </a:r>
            <a:r>
              <a:rPr b="1" lang="en-US" sz="1266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Transfer Learning</a:t>
            </a:r>
            <a:endParaRPr i="0" sz="1266" u="none" cap="none" strike="noStrik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206544" y="2270049"/>
            <a:ext cx="2477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266"/>
              <a:buFont typeface="Arial"/>
              <a:buNone/>
            </a:pPr>
            <a:r>
              <a:rPr b="1" i="0" lang="en-US" sz="1266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Perch / Perch-v2 </a:t>
            </a:r>
            <a:r>
              <a:rPr b="0" i="0" lang="en-US" sz="1266" u="none" cap="none" strike="noStrike">
                <a:solidFill>
                  <a:srgbClr val="54625B"/>
                </a:solidFill>
                <a:latin typeface="Arial"/>
                <a:ea typeface="Arial"/>
                <a:cs typeface="Arial"/>
                <a:sym typeface="Arial"/>
              </a:rPr>
              <a:t>(Google): self-supervised on Xeno-Canto, frozen, 5 s @ 32 kHz → 1536-d.</a:t>
            </a:r>
            <a:endParaRPr b="0" i="0" sz="126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247650" y="3226025"/>
            <a:ext cx="23952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875"/>
              <a:buFont typeface="Arial"/>
              <a:buNone/>
            </a:pPr>
            <a:r>
              <a:rPr b="1" i="0" lang="en-US" sz="1275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BirdNET </a:t>
            </a:r>
            <a:r>
              <a:rPr b="0" i="0" lang="en-US" sz="1275" u="none" cap="none" strike="noStrike">
                <a:solidFill>
                  <a:srgbClr val="54625B"/>
                </a:solidFill>
                <a:latin typeface="Arial"/>
                <a:ea typeface="Arial"/>
                <a:cs typeface="Arial"/>
                <a:sym typeface="Arial"/>
              </a:rPr>
              <a:t>(Kahl 2021): </a:t>
            </a:r>
            <a:r>
              <a:rPr lang="en-US" sz="1275">
                <a:solidFill>
                  <a:srgbClr val="54625B"/>
                </a:solidFill>
              </a:rPr>
              <a:t>Old </a:t>
            </a:r>
            <a:r>
              <a:rPr b="0" i="0" lang="en-US" sz="1275" u="none" cap="none" strike="noStrike">
                <a:solidFill>
                  <a:srgbClr val="54625B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1275">
                <a:solidFill>
                  <a:srgbClr val="54625B"/>
                </a:solidFill>
              </a:rPr>
              <a:t>and</a:t>
            </a:r>
            <a:r>
              <a:rPr b="0" i="0" lang="en-US" sz="1275" u="none" cap="none" strike="noStrike">
                <a:solidFill>
                  <a:srgbClr val="54625B"/>
                </a:solidFill>
                <a:latin typeface="Arial"/>
                <a:ea typeface="Arial"/>
                <a:cs typeface="Arial"/>
                <a:sym typeface="Arial"/>
              </a:rPr>
              <a:t>ard CNN for </a:t>
            </a:r>
            <a:r>
              <a:rPr lang="en-US" sz="1275">
                <a:solidFill>
                  <a:srgbClr val="54625B"/>
                </a:solidFill>
              </a:rPr>
              <a:t>PAM.</a:t>
            </a:r>
            <a:endParaRPr b="0" i="0" sz="12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970140" y="2854425"/>
            <a:ext cx="2728500" cy="2433600"/>
          </a:xfrm>
          <a:prstGeom prst="roundRect">
            <a:avLst>
              <a:gd fmla="val 3699" name="adj"/>
            </a:avLst>
          </a:prstGeom>
          <a:solidFill>
            <a:srgbClr val="FFFFFF"/>
          </a:solidFill>
          <a:ln cap="flat" cmpd="sng" w="6425">
            <a:solidFill>
              <a:srgbClr val="DDE3DA"/>
            </a:solidFill>
            <a:prstDash val="solid"/>
            <a:round/>
            <a:headEnd len="sm" w="sm" type="none"/>
            <a:tailEnd len="sm" w="sm" type="none"/>
          </a:ln>
          <a:effectLst>
            <a:outerShdw blurRad="68576" rotWithShape="0" algn="bl" dir="5400000" dist="6429">
              <a:srgbClr val="14281E">
                <a:alpha val="3140"/>
              </a:srgbClr>
            </a:outerShdw>
          </a:effectLst>
        </p:spPr>
        <p:txBody>
          <a:bodyPr anchorCtr="0" anchor="ctr" bIns="61725" lIns="61725" spcFirstLastPara="1" rIns="61725" wrap="square" tIns="61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9132106" y="3053725"/>
            <a:ext cx="24771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266"/>
              <a:buFont typeface="Courier New"/>
              <a:buNone/>
            </a:pPr>
            <a:r>
              <a:rPr b="1" i="0" lang="en-US" sz="1266" u="none" cap="none" strike="noStrike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02 · Data Pipeline</a:t>
            </a:r>
            <a:endParaRPr i="0" sz="1266" u="none" cap="none" strike="noStrik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045004" y="4347188"/>
            <a:ext cx="2728500" cy="2433600"/>
          </a:xfrm>
          <a:prstGeom prst="roundRect">
            <a:avLst>
              <a:gd fmla="val 3699" name="adj"/>
            </a:avLst>
          </a:prstGeom>
          <a:solidFill>
            <a:srgbClr val="FFFFFF"/>
          </a:solidFill>
          <a:ln cap="flat" cmpd="sng" w="6425">
            <a:solidFill>
              <a:srgbClr val="DDE3DA"/>
            </a:solidFill>
            <a:prstDash val="solid"/>
            <a:round/>
            <a:headEnd len="sm" w="sm" type="none"/>
            <a:tailEnd len="sm" w="sm" type="none"/>
          </a:ln>
          <a:effectLst>
            <a:outerShdw blurRad="68576" rotWithShape="0" algn="bl" dir="5400000" dist="6429">
              <a:srgbClr val="14281E">
                <a:alpha val="3140"/>
              </a:srgbClr>
            </a:outerShdw>
          </a:effectLst>
        </p:spPr>
        <p:txBody>
          <a:bodyPr anchorCtr="0" anchor="ctr" bIns="61725" lIns="61725" spcFirstLastPara="1" rIns="61725" wrap="square" tIns="61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206970" y="4546488"/>
            <a:ext cx="24771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266"/>
              <a:buFont typeface="Courier New"/>
              <a:buNone/>
            </a:pPr>
            <a:r>
              <a:rPr b="1" i="0" lang="en-US" sz="1266" u="none" cap="none" strike="noStrike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03 · </a:t>
            </a:r>
            <a:r>
              <a:rPr b="1" lang="en-US" sz="1266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Architecture</a:t>
            </a:r>
            <a:endParaRPr i="0" sz="1266" u="none" cap="none" strike="noStrik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206695" y="5227402"/>
            <a:ext cx="24771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266"/>
              <a:buFont typeface="Arial"/>
              <a:buNone/>
            </a:pPr>
            <a:r>
              <a:rPr b="1" i="0" lang="en-US" sz="1266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Sparsely-gated MoE </a:t>
            </a:r>
            <a:r>
              <a:rPr b="0" i="0" lang="en-US" sz="1266" u="none" cap="none" strike="noStrike">
                <a:solidFill>
                  <a:srgbClr val="54625B"/>
                </a:solidFill>
                <a:latin typeface="Arial"/>
                <a:ea typeface="Arial"/>
                <a:cs typeface="Arial"/>
                <a:sym typeface="Arial"/>
              </a:rPr>
              <a:t>(Shazeer 2017) </a:t>
            </a:r>
            <a:r>
              <a:rPr lang="en-US" sz="1266">
                <a:solidFill>
                  <a:srgbClr val="54625B"/>
                </a:solidFill>
              </a:rPr>
              <a:t>Earns conditional compute, &amp; specialisation fo </a:t>
            </a:r>
            <a:r>
              <a:rPr lang="en-US" sz="1266">
                <a:solidFill>
                  <a:srgbClr val="54625B"/>
                </a:solidFill>
              </a:rPr>
              <a:t>experts</a:t>
            </a:r>
            <a:r>
              <a:rPr lang="en-US" sz="1266">
                <a:solidFill>
                  <a:srgbClr val="54625B"/>
                </a:solidFill>
              </a:rPr>
              <a:t>.</a:t>
            </a:r>
            <a:endParaRPr b="0" i="0" sz="126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-852975" y="6864267"/>
            <a:ext cx="12736500" cy="7500"/>
          </a:xfrm>
          <a:prstGeom prst="rect">
            <a:avLst/>
          </a:prstGeom>
          <a:solidFill>
            <a:srgbClr val="DDE3DA"/>
          </a:solidFill>
          <a:ln>
            <a:noFill/>
          </a:ln>
        </p:spPr>
        <p:txBody>
          <a:bodyPr anchorCtr="0" anchor="ctr" bIns="71075" lIns="71075" spcFirstLastPara="1" rIns="71075" wrap="square" tIns="7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0" y="5396401"/>
            <a:ext cx="44400" cy="1461600"/>
          </a:xfrm>
          <a:prstGeom prst="rect">
            <a:avLst/>
          </a:prstGeom>
          <a:solidFill>
            <a:srgbClr val="235E8C"/>
          </a:solidFill>
          <a:ln>
            <a:noFill/>
          </a:ln>
        </p:spPr>
        <p:txBody>
          <a:bodyPr anchorCtr="0" anchor="ctr" bIns="71075" lIns="71075" spcFirstLastPara="1" rIns="71075" wrap="square" tIns="71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33050" y="1254075"/>
            <a:ext cx="57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had won in previous BirdCLEF+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Editions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9112416" y="3577219"/>
            <a:ext cx="2395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266"/>
              <a:buFont typeface="Arial"/>
              <a:buNone/>
            </a:pPr>
            <a:r>
              <a:rPr b="1" lang="en-US" sz="1266">
                <a:solidFill>
                  <a:srgbClr val="16201B"/>
                </a:solidFill>
              </a:rPr>
              <a:t>Pre-Processing: </a:t>
            </a:r>
            <a:r>
              <a:rPr lang="en-US" sz="1266">
                <a:solidFill>
                  <a:srgbClr val="16201B"/>
                </a:solidFill>
              </a:rPr>
              <a:t>Mixup, Background mixing, TTA (for inference) &amp; Training Chunk Length.</a:t>
            </a:r>
            <a:endParaRPr sz="1266">
              <a:solidFill>
                <a:srgbClr val="16201B"/>
              </a:solidFill>
            </a:endParaRPr>
          </a:p>
          <a:p>
            <a:pPr indent="0" lvl="0" marL="0" rtl="0" algn="l">
              <a:lnSpc>
                <a:spcPct val="146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266"/>
              <a:buFont typeface="Arial"/>
              <a:buNone/>
            </a:pPr>
            <a:r>
              <a:rPr b="1" lang="en-US" sz="1266">
                <a:solidFill>
                  <a:srgbClr val="16201B"/>
                </a:solidFill>
              </a:rPr>
              <a:t>Post-</a:t>
            </a:r>
            <a:r>
              <a:rPr b="1" lang="en-US" sz="1266">
                <a:solidFill>
                  <a:srgbClr val="16201B"/>
                </a:solidFill>
              </a:rPr>
              <a:t>Processing: </a:t>
            </a:r>
            <a:r>
              <a:rPr lang="en-US" sz="1266">
                <a:solidFill>
                  <a:srgbClr val="16201B"/>
                </a:solidFill>
              </a:rPr>
              <a:t>TopN (N=1)</a:t>
            </a:r>
            <a:endParaRPr sz="1266">
              <a:solidFill>
                <a:srgbClr val="16201B"/>
              </a:solidFill>
            </a:endParaRPr>
          </a:p>
        </p:txBody>
      </p:sp>
      <p:pic>
        <p:nvPicPr>
          <p:cNvPr id="124" name="Google Shape;12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012" y="2533000"/>
            <a:ext cx="3919384" cy="3421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6057900"/>
            <a:ext cx="107442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Imbalance &amp; Evaluation Metric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23900" y="1013370"/>
            <a:ext cx="10744200" cy="9525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897" y="3097950"/>
            <a:ext cx="8748525" cy="2839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33" name="Google Shape;133;p16"/>
          <p:cNvGrpSpPr/>
          <p:nvPr/>
        </p:nvGrpSpPr>
        <p:grpSpPr>
          <a:xfrm>
            <a:off x="672770" y="1485326"/>
            <a:ext cx="5211653" cy="1150200"/>
            <a:chOff x="9036624" y="-551700"/>
            <a:chExt cx="5181600" cy="1150200"/>
          </a:xfrm>
        </p:grpSpPr>
        <p:pic>
          <p:nvPicPr>
            <p:cNvPr descr="image.png" id="134" name="Google Shape;134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36624" y="-551700"/>
              <a:ext cx="5181600" cy="115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6"/>
            <p:cNvSpPr txBox="1"/>
            <p:nvPr/>
          </p:nvSpPr>
          <p:spPr>
            <a:xfrm>
              <a:off x="9284274" y="-304049"/>
              <a:ext cx="49206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75">
                  <a:solidFill>
                    <a:schemeClr val="accent2"/>
                  </a:solidFill>
                  <a:latin typeface="Fira Code"/>
                  <a:ea typeface="Fira Code"/>
                  <a:cs typeface="Fira Code"/>
                  <a:sym typeface="Fira Code"/>
                </a:rPr>
                <a:t>EVALUATION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9284274" y="751"/>
              <a:ext cx="4686300" cy="4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12">
                  <a:solidFill>
                    <a:srgbClr val="2F4333"/>
                  </a:solidFill>
                  <a:latin typeface="Inter"/>
                  <a:ea typeface="Inter"/>
                  <a:cs typeface="Inter"/>
                  <a:sym typeface="Inter"/>
                </a:rPr>
                <a:t>Macro averaged </a:t>
              </a:r>
              <a:r>
                <a:rPr i="1" lang="en-US" sz="1212" u="sng">
                  <a:solidFill>
                    <a:srgbClr val="2F4333"/>
                  </a:solidFill>
                  <a:latin typeface="Inter"/>
                  <a:ea typeface="Inter"/>
                  <a:cs typeface="Inter"/>
                  <a:sym typeface="Inter"/>
                </a:rPr>
                <a:t>ROC-AUC</a:t>
              </a:r>
              <a:r>
                <a:rPr lang="en-US" sz="1212">
                  <a:solidFill>
                    <a:srgbClr val="2F4333"/>
                  </a:solidFill>
                  <a:latin typeface="Inter"/>
                  <a:ea typeface="Inter"/>
                  <a:cs typeface="Inter"/>
                  <a:sym typeface="Inter"/>
                </a:rPr>
                <a:t> that skips classes that have no true positive labels.</a:t>
              </a:r>
              <a:endParaRPr sz="1600"/>
            </a:p>
          </p:txBody>
        </p:sp>
      </p:grpSp>
      <p:pic>
        <p:nvPicPr>
          <p:cNvPr id="137" name="Google Shape;137;p16" title="AUC_formul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01697" y="1272050"/>
            <a:ext cx="3581311" cy="7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title="ROC_formul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1546" y="2000321"/>
            <a:ext cx="3260890" cy="72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Study 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49329" t="0"/>
          <a:stretch/>
        </p:blipFill>
        <p:spPr>
          <a:xfrm>
            <a:off x="891124" y="3124900"/>
            <a:ext cx="4555250" cy="2688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17"/>
          <p:cNvSpPr/>
          <p:nvPr/>
        </p:nvSpPr>
        <p:spPr>
          <a:xfrm>
            <a:off x="723900" y="1494350"/>
            <a:ext cx="4889700" cy="1038900"/>
          </a:xfrm>
          <a:prstGeom prst="roundRect">
            <a:avLst>
              <a:gd fmla="val 8472" name="adj"/>
            </a:avLst>
          </a:prstGeom>
          <a:solidFill>
            <a:srgbClr val="F7ECE9"/>
          </a:solidFill>
          <a:ln cap="flat" cmpd="sng" w="12575">
            <a:solidFill>
              <a:srgbClr val="9C3D2B"/>
            </a:solidFill>
            <a:prstDash val="solid"/>
            <a:round/>
            <a:headEnd len="sm" w="sm" type="none"/>
            <a:tailEnd len="sm" w="sm" type="none"/>
          </a:ln>
          <a:effectLst>
            <a:outerShdw blurRad="67049" rotWithShape="0" algn="bl" dir="5400000" dist="6286">
              <a:srgbClr val="14281E">
                <a:alpha val="3140"/>
              </a:srgbClr>
            </a:outerShdw>
          </a:effectLst>
        </p:spPr>
        <p:txBody>
          <a:bodyPr anchorCtr="0" anchor="ctr" bIns="60325" lIns="60325" spcFirstLastPara="1" rIns="60325" wrap="square" tIns="60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887871" y="1832706"/>
            <a:ext cx="4815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50" lIns="16750" spcFirstLastPara="1" rIns="16750" wrap="square" tIns="16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3D2B"/>
              </a:buClr>
              <a:buSzPts val="3168"/>
              <a:buFont typeface="Arial"/>
              <a:buNone/>
            </a:pPr>
            <a:r>
              <a:rPr b="1" i="0" lang="en-US" sz="3168" u="none" cap="none" strike="noStrike">
                <a:solidFill>
                  <a:srgbClr val="9C3D2B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31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1463232" y="1733213"/>
            <a:ext cx="41061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50" lIns="16750" spcFirstLastPara="1" rIns="16750" wrap="square" tIns="167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237"/>
              <a:buFont typeface="Arial"/>
              <a:buNone/>
            </a:pPr>
            <a:r>
              <a:rPr b="0" i="0" lang="en-US" sz="1237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scored species have </a:t>
            </a:r>
            <a:r>
              <a:rPr i="0" lang="en-US" sz="1237" u="none" cap="none" strike="noStrike">
                <a:solidFill>
                  <a:srgbClr val="16201B"/>
                </a:solidFill>
              </a:rPr>
              <a:t>zero </a:t>
            </a:r>
            <a:r>
              <a:rPr b="0" i="0" lang="en-US" sz="1237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training audio</a:t>
            </a:r>
            <a:r>
              <a:rPr lang="en-US" sz="1237">
                <a:solidFill>
                  <a:srgbClr val="16201B"/>
                </a:solidFill>
              </a:rPr>
              <a:t>, </a:t>
            </a:r>
            <a:r>
              <a:rPr b="0" i="0" lang="en-US" sz="1237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US" sz="1237" u="none" cap="none" strike="noStrike">
                <a:solidFill>
                  <a:srgbClr val="16201B"/>
                </a:solidFill>
              </a:rPr>
              <a:t>25 Insecta + 3 Amphibia</a:t>
            </a:r>
            <a:r>
              <a:rPr b="0" i="0" lang="en-US" sz="1237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37">
                <a:solidFill>
                  <a:srgbClr val="16201B"/>
                </a:solidFill>
              </a:rPr>
              <a:t>These are u</a:t>
            </a:r>
            <a:r>
              <a:rPr b="0" i="0" lang="en-US" sz="1237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nlearnable from train.csv</a:t>
            </a:r>
            <a:r>
              <a:rPr lang="en-US" sz="1237">
                <a:solidFill>
                  <a:srgbClr val="16201B"/>
                </a:solidFill>
              </a:rPr>
              <a:t>.</a:t>
            </a:r>
            <a:endParaRPr b="0" i="0" sz="12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7"/>
          <p:cNvCxnSpPr/>
          <p:nvPr/>
        </p:nvCxnSpPr>
        <p:spPr>
          <a:xfrm>
            <a:off x="6082650" y="1733225"/>
            <a:ext cx="26700" cy="386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3625" y="1494350"/>
            <a:ext cx="4386389" cy="1934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3625" y="3630000"/>
            <a:ext cx="4386399" cy="215118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23900" y="533400"/>
            <a:ext cx="11281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en-US" sz="2400">
                <a:solidFill>
                  <a:srgbClr val="143D2E"/>
                </a:solidFill>
              </a:rPr>
              <a:t>Methodology</a:t>
            </a:r>
            <a:r>
              <a:rPr b="1" lang="en-US" sz="2400">
                <a:solidFill>
                  <a:srgbClr val="143D2E"/>
                </a:solidFill>
              </a:rPr>
              <a:t>: Transfer Learning — Frozen Perch-v2 Embeddings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12A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88600" y="1579361"/>
            <a:ext cx="3374400" cy="1249200"/>
          </a:xfrm>
          <a:prstGeom prst="roundRect">
            <a:avLst>
              <a:gd fmla="val 7048" name="adj"/>
            </a:avLst>
          </a:prstGeom>
          <a:solidFill>
            <a:srgbClr val="FFFFFF"/>
          </a:solidFill>
          <a:ln cap="flat" cmpd="sng" w="6275">
            <a:solidFill>
              <a:srgbClr val="DDE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50" lIns="60350" spcFirstLastPara="1" rIns="60350" wrap="square" tIns="6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845792" y="1749128"/>
            <a:ext cx="3151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188"/>
              <a:buFont typeface="Courier New"/>
              <a:buNone/>
            </a:pPr>
            <a:r>
              <a:rPr i="0" lang="en-US" sz="1188" u="none" cap="none" strike="noStrike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INPUT</a:t>
            </a:r>
            <a:endParaRPr i="0" sz="1188" u="none" cap="none" strike="noStrik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45792" y="1981773"/>
            <a:ext cx="3151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535"/>
              <a:buFont typeface="Arial"/>
              <a:buNone/>
            </a:pPr>
            <a:r>
              <a:rPr b="1" i="0" lang="en-US" sz="1535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Raw waveform</a:t>
            </a:r>
            <a:endParaRPr b="0" i="0" sz="15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45792" y="2268746"/>
            <a:ext cx="3151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25B"/>
              </a:buClr>
              <a:buSzPts val="1188"/>
              <a:buFont typeface="Courier New"/>
              <a:buNone/>
            </a:pPr>
            <a:r>
              <a:rPr i="0" lang="en-US" sz="1188" u="none" cap="none" strike="noStrike">
                <a:solidFill>
                  <a:srgbClr val="54625B"/>
                </a:solidFill>
                <a:latin typeface="Inter"/>
                <a:ea typeface="Inter"/>
                <a:cs typeface="Inter"/>
                <a:sym typeface="Inter"/>
              </a:rPr>
              <a:t>5 s @ 32 kHz mono 160,000 samples</a:t>
            </a:r>
            <a:endParaRPr i="0" sz="1188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037776" y="1579361"/>
            <a:ext cx="3900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775" lIns="16775" spcFirstLastPara="1" rIns="16775" wrap="square" tIns="16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683"/>
              <a:buFont typeface="Arial"/>
              <a:buNone/>
            </a:pPr>
            <a:r>
              <a:rPr b="0" i="0" lang="en-US" sz="1683" u="none" cap="none" strike="noStrike">
                <a:solidFill>
                  <a:srgbClr val="8A968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402462" y="1579361"/>
            <a:ext cx="3387000" cy="1249200"/>
          </a:xfrm>
          <a:prstGeom prst="roundRect">
            <a:avLst>
              <a:gd fmla="val 7048" name="adj"/>
            </a:avLst>
          </a:prstGeom>
          <a:solidFill>
            <a:srgbClr val="EEF4F8"/>
          </a:solidFill>
          <a:ln cap="flat" cmpd="sng" w="12575">
            <a:solidFill>
              <a:srgbClr val="235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50" lIns="60350" spcFirstLastPara="1" rIns="60350" wrap="square" tIns="6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565942" y="1755416"/>
            <a:ext cx="3151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5E8C"/>
              </a:buClr>
              <a:buSzPts val="1188"/>
              <a:buFont typeface="Courier New"/>
              <a:buNone/>
            </a:pPr>
            <a:r>
              <a:rPr i="0" lang="en-US" sz="1188" u="none" cap="none" strike="noStrike">
                <a:solidFill>
                  <a:srgbClr val="235E8C"/>
                </a:solidFill>
                <a:latin typeface="Fira Code"/>
                <a:ea typeface="Fira Code"/>
                <a:cs typeface="Fira Code"/>
                <a:sym typeface="Fira Code"/>
              </a:rPr>
              <a:t>PERCH-V2 FROZEN</a:t>
            </a:r>
            <a:endParaRPr i="0" sz="1188" u="none" cap="none" strike="noStrik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565942" y="2025787"/>
            <a:ext cx="3151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535"/>
              <a:buFont typeface="Arial"/>
              <a:buNone/>
            </a:pPr>
            <a:r>
              <a:rPr b="1" i="0" lang="en-US" sz="1535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Bioacoustic backbone</a:t>
            </a:r>
            <a:endParaRPr b="0" i="0" sz="15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565942" y="2312760"/>
            <a:ext cx="3151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25B"/>
              </a:buClr>
              <a:buSzPts val="1188"/>
              <a:buFont typeface="Courier New"/>
              <a:buNone/>
            </a:pPr>
            <a:r>
              <a:rPr lang="en-US" sz="1188">
                <a:solidFill>
                  <a:srgbClr val="54625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i="0" lang="en-US" sz="1188" u="none" cap="none" strike="noStrike">
                <a:solidFill>
                  <a:srgbClr val="54625B"/>
                </a:solidFill>
                <a:latin typeface="Inter"/>
                <a:ea typeface="Inter"/>
                <a:cs typeface="Inter"/>
                <a:sym typeface="Inter"/>
              </a:rPr>
              <a:t>nternal </a:t>
            </a:r>
            <a:r>
              <a:rPr lang="en-US" sz="1188">
                <a:solidFill>
                  <a:srgbClr val="54625B"/>
                </a:solidFill>
                <a:latin typeface="Inter"/>
                <a:ea typeface="Inter"/>
                <a:cs typeface="Inter"/>
                <a:sym typeface="Inter"/>
              </a:rPr>
              <a:t>mel-spectrogram, EfficientNet-B3 CNN</a:t>
            </a:r>
            <a:endParaRPr i="0" sz="1188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764311" y="1579361"/>
            <a:ext cx="3900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775" lIns="16775" spcFirstLastPara="1" rIns="16775" wrap="square" tIns="16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683"/>
              <a:buFont typeface="Arial"/>
              <a:buNone/>
            </a:pPr>
            <a:r>
              <a:rPr b="0" i="0" lang="en-US" sz="1683" u="none" cap="none" strike="noStrike">
                <a:solidFill>
                  <a:srgbClr val="8A968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128997" y="1579361"/>
            <a:ext cx="3374400" cy="1249200"/>
          </a:xfrm>
          <a:prstGeom prst="roundRect">
            <a:avLst>
              <a:gd fmla="val 7048" name="adj"/>
            </a:avLst>
          </a:prstGeom>
          <a:solidFill>
            <a:srgbClr val="FFFFFF"/>
          </a:solidFill>
          <a:ln cap="flat" cmpd="sng" w="6275">
            <a:solidFill>
              <a:srgbClr val="DDE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50" lIns="60350" spcFirstLastPara="1" rIns="60350" wrap="square" tIns="6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8286189" y="1749128"/>
            <a:ext cx="3151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188"/>
              <a:buFont typeface="Courier New"/>
              <a:buNone/>
            </a:pPr>
            <a:r>
              <a:rPr i="0" lang="en-US" sz="1188" u="none" cap="none" strike="noStrike">
                <a:solidFill>
                  <a:srgbClr val="15786D"/>
                </a:solidFill>
                <a:latin typeface="Fira Code"/>
                <a:ea typeface="Fira Code"/>
                <a:cs typeface="Fira Code"/>
                <a:sym typeface="Fira Code"/>
              </a:rPr>
              <a:t>OUTPUT</a:t>
            </a:r>
            <a:endParaRPr i="0" sz="1188" u="none" cap="none" strike="noStrik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286189" y="1981773"/>
            <a:ext cx="31518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1B"/>
              </a:buClr>
              <a:buSzPts val="1535"/>
              <a:buFont typeface="Arial"/>
              <a:buNone/>
            </a:pPr>
            <a:r>
              <a:rPr b="1" i="0" lang="en-US" sz="1535" u="none" cap="none" strike="noStrike">
                <a:solidFill>
                  <a:srgbClr val="16201B"/>
                </a:solidFill>
                <a:latin typeface="Arial"/>
                <a:ea typeface="Arial"/>
                <a:cs typeface="Arial"/>
                <a:sym typeface="Arial"/>
              </a:rPr>
              <a:t>1536-d embedding</a:t>
            </a:r>
            <a:endParaRPr b="0" i="0" sz="15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286189" y="2268746"/>
            <a:ext cx="3151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75" lIns="16775" spcFirstLastPara="1" rIns="16775" wrap="square" tIns="16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25B"/>
              </a:buClr>
              <a:buSzPts val="1188"/>
              <a:buFont typeface="Courier New"/>
              <a:buNone/>
            </a:pPr>
            <a:r>
              <a:rPr i="0" lang="en-US" sz="1188" u="none" cap="none" strike="noStrike">
                <a:solidFill>
                  <a:srgbClr val="54625B"/>
                </a:solidFill>
                <a:latin typeface="Inter"/>
                <a:ea typeface="Inter"/>
                <a:cs typeface="Inter"/>
                <a:sym typeface="Inter"/>
              </a:rPr>
              <a:t>per 5 s window mean-pooled per recording</a:t>
            </a:r>
            <a:endParaRPr i="0" sz="1188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23900" y="3510850"/>
            <a:ext cx="4249500" cy="973200"/>
          </a:xfrm>
          <a:prstGeom prst="roundRect">
            <a:avLst>
              <a:gd fmla="val 7093" name="adj"/>
            </a:avLst>
          </a:prstGeom>
          <a:solidFill>
            <a:srgbClr val="EEF4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60698" rotWithShape="0" algn="bl" dir="5400000" dist="5690">
              <a:srgbClr val="14281E">
                <a:alpha val="3140"/>
              </a:srgbClr>
            </a:outerShdw>
          </a:effectLst>
        </p:spPr>
        <p:txBody>
          <a:bodyPr anchorCtr="0" anchor="ctr" bIns="54600" lIns="54600" spcFirstLastPara="1" rIns="54600" wrap="square" tIns="54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/>
          </a:p>
        </p:txBody>
      </p:sp>
      <p:sp>
        <p:nvSpPr>
          <p:cNvPr id="175" name="Google Shape;175;p18"/>
          <p:cNvSpPr/>
          <p:nvPr/>
        </p:nvSpPr>
        <p:spPr>
          <a:xfrm>
            <a:off x="915293" y="3642801"/>
            <a:ext cx="3866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00" lIns="15200" spcFirstLastPara="1" rIns="15200" wrap="square" tIns="152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4625B"/>
              </a:buClr>
              <a:buSzPts val="2518"/>
              <a:buFont typeface="Arial"/>
              <a:buNone/>
            </a:pPr>
            <a:r>
              <a:rPr lang="en-US" sz="1823">
                <a:solidFill>
                  <a:srgbClr val="54625B"/>
                </a:solidFill>
              </a:rPr>
              <a:t>Perch is a </a:t>
            </a:r>
            <a:r>
              <a:rPr lang="en-US" sz="1823">
                <a:solidFill>
                  <a:srgbClr val="16201B"/>
                </a:solidFill>
              </a:rPr>
              <a:t>fixed </a:t>
            </a:r>
            <a:r>
              <a:rPr lang="en-US" sz="1823">
                <a:solidFill>
                  <a:srgbClr val="54625B"/>
                </a:solidFill>
              </a:rPr>
              <a:t>feature extractor, We transfer learn on top of it.</a:t>
            </a:r>
            <a:endParaRPr sz="18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D2E"/>
              </a:buClr>
              <a:buSzPts val="1434"/>
              <a:buFont typeface="Arial"/>
              <a:buNone/>
            </a:pPr>
            <a:r>
              <a:t/>
            </a:r>
            <a:endParaRPr sz="1434">
              <a:solidFill>
                <a:srgbClr val="143D2E"/>
              </a:solidFill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849" y="3219000"/>
            <a:ext cx="5314147" cy="250903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18"/>
          <p:cNvSpPr/>
          <p:nvPr/>
        </p:nvSpPr>
        <p:spPr>
          <a:xfrm>
            <a:off x="5372100" y="4382550"/>
            <a:ext cx="6432600" cy="143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8"/>
          <p:cNvCxnSpPr/>
          <p:nvPr/>
        </p:nvCxnSpPr>
        <p:spPr>
          <a:xfrm flipH="1" rot="10800000">
            <a:off x="5691075" y="4112075"/>
            <a:ext cx="2604900" cy="65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23900" y="533400"/>
            <a:ext cx="11281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3D2E"/>
              </a:buClr>
              <a:buSzPts val="4500"/>
              <a:buFont typeface="Arial"/>
              <a:buNone/>
            </a:pPr>
            <a:r>
              <a:rPr b="1" lang="en-US" sz="2400">
                <a:solidFill>
                  <a:srgbClr val="143D2E"/>
                </a:solidFill>
              </a:rPr>
              <a:t>Methodology: Classifier Head — Top-1 Mixture-of-Experts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12A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23900" y="1430800"/>
            <a:ext cx="5299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164"/>
              <a:buFont typeface="Courier New"/>
              <a:buNone/>
            </a:pPr>
            <a:r>
              <a:rPr lang="en-US" sz="1164">
                <a:solidFill>
                  <a:srgbClr val="15786D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i="0" lang="en-US" sz="1164" u="none" cap="none" strike="noStrike">
                <a:solidFill>
                  <a:srgbClr val="15786D"/>
                </a:solidFill>
                <a:latin typeface="Inter"/>
                <a:ea typeface="Inter"/>
                <a:cs typeface="Inter"/>
                <a:sym typeface="Inter"/>
              </a:rPr>
              <a:t> experts ≡ 5 taxon groups · one fires per sample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23900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1F6B4F"/>
          </a:solidFill>
          <a:ln cap="flat" cmpd="sng" w="6125">
            <a:solidFill>
              <a:srgbClr val="143D2E"/>
            </a:solidFill>
            <a:prstDash val="solid"/>
            <a:round/>
            <a:headEnd len="sm" w="sm" type="none"/>
            <a:tailEnd len="sm" w="sm" type="none"/>
          </a:ln>
          <a:effectLst>
            <a:outerShdw blurRad="110908" rotWithShape="0" algn="bl" dir="5400000" dist="36969">
              <a:srgbClr val="1F6B4F">
                <a:alpha val="27840"/>
              </a:srgbClr>
            </a:outerShdw>
          </a:effectLst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1111404" y="1837465"/>
            <a:ext cx="234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ourier New"/>
              <a:buNone/>
            </a:pPr>
            <a:r>
              <a:rPr b="1" i="0" lang="en-US" sz="121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E1</a:t>
            </a:r>
            <a:endParaRPr i="0" sz="1213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67031" y="2077767"/>
            <a:ext cx="873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4"/>
              <a:buFont typeface="Courier New"/>
              <a:buNone/>
            </a:pPr>
            <a:r>
              <a:rPr b="1" i="0" lang="en-US" sz="11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Aves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770113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EEF1EC"/>
          </a:solidFill>
          <a:ln cap="flat" cmpd="sng" w="6125">
            <a:solidFill>
              <a:srgbClr val="C5C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157617" y="1837465"/>
            <a:ext cx="234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213"/>
              <a:buFont typeface="Courier New"/>
              <a:buNone/>
            </a:pPr>
            <a:r>
              <a:rPr i="0" lang="en-US" sz="1213" u="none" cap="none" strike="noStrike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E2</a:t>
            </a:r>
            <a:endParaRPr i="0" sz="1213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813244" y="2053121"/>
            <a:ext cx="873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164"/>
              <a:buFont typeface="Courier New"/>
              <a:buNone/>
            </a:pPr>
            <a:r>
              <a:rPr i="0" lang="en-US" sz="1164" u="none" cap="none" strike="noStrike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Amphibia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816422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EEF1EC"/>
          </a:solidFill>
          <a:ln cap="flat" cmpd="sng" w="6125">
            <a:solidFill>
              <a:srgbClr val="C5C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203926" y="1837465"/>
            <a:ext cx="234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213"/>
              <a:buFont typeface="Courier New"/>
              <a:buNone/>
            </a:pPr>
            <a:r>
              <a:rPr i="0" lang="en-US" sz="1213" u="none" cap="none" strike="noStrike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E3</a:t>
            </a:r>
            <a:endParaRPr i="0" sz="1213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859553" y="2053121"/>
            <a:ext cx="873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164"/>
              <a:buFont typeface="Courier New"/>
              <a:buNone/>
            </a:pPr>
            <a:r>
              <a:rPr i="0" lang="en-US" sz="1164" u="none" cap="none" strike="noStrike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Insecta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862635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EEF1EC"/>
          </a:solidFill>
          <a:ln cap="flat" cmpd="sng" w="6125">
            <a:solidFill>
              <a:srgbClr val="C5C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250139" y="1837465"/>
            <a:ext cx="234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213"/>
              <a:buFont typeface="Courier New"/>
              <a:buNone/>
            </a:pPr>
            <a:r>
              <a:rPr i="0" lang="en-US" sz="1213" u="none" cap="none" strike="noStrike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i="0" sz="1213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905766" y="2053121"/>
            <a:ext cx="873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164"/>
              <a:buFont typeface="Courier New"/>
              <a:buNone/>
            </a:pPr>
            <a:r>
              <a:rPr i="0" lang="en-US" sz="1164" u="none" cap="none" strike="noStrike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Mammalia/</a:t>
            </a:r>
            <a:r>
              <a:rPr lang="en-US" sz="1164">
                <a:solidFill>
                  <a:srgbClr val="8A968F"/>
                </a:solidFill>
                <a:latin typeface="Inter"/>
                <a:ea typeface="Inter"/>
                <a:cs typeface="Inter"/>
                <a:sym typeface="Inter"/>
              </a:rPr>
              <a:t>Reptilia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790760" y="2985210"/>
            <a:ext cx="896100" cy="8721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7">
                <a:latin typeface="Calibri"/>
                <a:ea typeface="Calibri"/>
                <a:cs typeface="Calibri"/>
                <a:sym typeface="Calibri"/>
              </a:rPr>
              <a:t>1536d</a:t>
            </a:r>
            <a:endParaRPr sz="1307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7">
                <a:latin typeface="Calibri"/>
                <a:ea typeface="Calibri"/>
                <a:cs typeface="Calibri"/>
                <a:sym typeface="Calibri"/>
              </a:rPr>
              <a:t>Perch </a:t>
            </a:r>
            <a:r>
              <a:rPr lang="en-US" sz="1027"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sz="102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301897" y="2934939"/>
            <a:ext cx="1349700" cy="973200"/>
          </a:xfrm>
          <a:prstGeom prst="diamond">
            <a:avLst/>
          </a:prstGeom>
          <a:solidFill>
            <a:schemeClr val="lt2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7">
                <a:latin typeface="Calibri"/>
                <a:ea typeface="Calibri"/>
                <a:cs typeface="Calibri"/>
                <a:sym typeface="Calibri"/>
              </a:rPr>
              <a:t>Router</a:t>
            </a:r>
            <a:endParaRPr sz="130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9"/>
          <p:cNvCxnSpPr>
            <a:stCxn id="199" idx="3"/>
            <a:endCxn id="200" idx="1"/>
          </p:cNvCxnSpPr>
          <p:nvPr/>
        </p:nvCxnSpPr>
        <p:spPr>
          <a:xfrm>
            <a:off x="2686860" y="3421260"/>
            <a:ext cx="615000" cy="300"/>
          </a:xfrm>
          <a:prstGeom prst="straightConnector1">
            <a:avLst/>
          </a:prstGeom>
          <a:noFill/>
          <a:ln cap="flat" cmpd="sng" w="89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19"/>
          <p:cNvSpPr txBox="1"/>
          <p:nvPr/>
        </p:nvSpPr>
        <p:spPr>
          <a:xfrm>
            <a:off x="3260126" y="3857458"/>
            <a:ext cx="17184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nn.Linear(1536, 256) 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nn.BatchNorm1d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nn.ReLU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nn.Linear(256, 4)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 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266494" y="2111276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E1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266494" y="2802836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E2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266494" y="3483708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E3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266494" y="4164565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E4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9"/>
          <p:cNvCxnSpPr>
            <a:stCxn id="200" idx="3"/>
            <a:endCxn id="203" idx="1"/>
          </p:cNvCxnSpPr>
          <p:nvPr/>
        </p:nvCxnSpPr>
        <p:spPr>
          <a:xfrm flipH="1" rot="10800000">
            <a:off x="4651597" y="2353239"/>
            <a:ext cx="615000" cy="10683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9"/>
          <p:cNvCxnSpPr>
            <a:endCxn id="204" idx="1"/>
          </p:cNvCxnSpPr>
          <p:nvPr/>
        </p:nvCxnSpPr>
        <p:spPr>
          <a:xfrm flipH="1" rot="10800000">
            <a:off x="4648494" y="3044936"/>
            <a:ext cx="618000" cy="376800"/>
          </a:xfrm>
          <a:prstGeom prst="curvedConnector3">
            <a:avLst>
              <a:gd fmla="val 50000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9"/>
          <p:cNvCxnSpPr>
            <a:stCxn id="200" idx="3"/>
            <a:endCxn id="205" idx="1"/>
          </p:cNvCxnSpPr>
          <p:nvPr/>
        </p:nvCxnSpPr>
        <p:spPr>
          <a:xfrm>
            <a:off x="4651597" y="3421539"/>
            <a:ext cx="615000" cy="3042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9"/>
          <p:cNvCxnSpPr>
            <a:stCxn id="200" idx="3"/>
            <a:endCxn id="206" idx="1"/>
          </p:cNvCxnSpPr>
          <p:nvPr/>
        </p:nvCxnSpPr>
        <p:spPr>
          <a:xfrm>
            <a:off x="4651597" y="3421539"/>
            <a:ext cx="615000" cy="9852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9"/>
          <p:cNvSpPr/>
          <p:nvPr/>
        </p:nvSpPr>
        <p:spPr>
          <a:xfrm>
            <a:off x="7853378" y="3598692"/>
            <a:ext cx="1121400" cy="6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Pred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9"/>
          <p:cNvCxnSpPr>
            <a:stCxn id="206" idx="3"/>
            <a:endCxn id="211" idx="1"/>
          </p:cNvCxnSpPr>
          <p:nvPr/>
        </p:nvCxnSpPr>
        <p:spPr>
          <a:xfrm flipH="1" rot="10800000">
            <a:off x="6549594" y="3925765"/>
            <a:ext cx="1303800" cy="4809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19"/>
          <p:cNvSpPr/>
          <p:nvPr/>
        </p:nvSpPr>
        <p:spPr>
          <a:xfrm flipH="1" rot="-8514255">
            <a:off x="6049659" y="4857280"/>
            <a:ext cx="1570559" cy="294195"/>
          </a:xfrm>
          <a:prstGeom prst="triangle">
            <a:avLst>
              <a:gd fmla="val 0" name="adj"/>
            </a:avLst>
          </a:prstGeom>
          <a:solidFill>
            <a:schemeClr val="lt2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6837572" y="4404220"/>
            <a:ext cx="3153000" cy="159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nn.Linear(1536, 512) 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nn.BatchNorm1d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nn.ReLU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nn.Dropout(0.2)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nn.Linear(512, 234)</a:t>
            </a:r>
            <a:endParaRPr sz="1735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19" title="expert_taxon_heatmap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7575" y="1130813"/>
            <a:ext cx="2832059" cy="23600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723900" y="6181725"/>
            <a:ext cx="3591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B6150"/>
                </a:solidFill>
                <a:latin typeface="Fira Code"/>
                <a:ea typeface="Fira Code"/>
                <a:cs typeface="Fira Code"/>
                <a:sym typeface="Fira Code"/>
              </a:rPr>
              <a:t>SECTION 2: SIGNAL CONDITIONING &amp; STRUCTURAL PRE-PROCESSING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0725150" y="6181725"/>
            <a:ext cx="743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B6150"/>
                </a:solidFill>
                <a:latin typeface="Fira Code"/>
                <a:ea typeface="Fira Code"/>
                <a:cs typeface="Fira Code"/>
                <a:sym typeface="Fira Code"/>
              </a:rPr>
              <a:t>SLIDE 3 / 14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55250" y="534525"/>
            <a:ext cx="11281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3D2E"/>
              </a:buClr>
              <a:buSzPts val="4500"/>
              <a:buFont typeface="Arial"/>
              <a:buNone/>
            </a:pPr>
            <a:r>
              <a:rPr b="1" lang="en-US" sz="2400">
                <a:solidFill>
                  <a:srgbClr val="143D2E"/>
                </a:solidFill>
              </a:rPr>
              <a:t>Classifier Head: Average</a:t>
            </a:r>
            <a:r>
              <a:rPr b="1" lang="en-US" sz="2400">
                <a:solidFill>
                  <a:srgbClr val="143D2E"/>
                </a:solidFill>
              </a:rPr>
              <a:t> </a:t>
            </a:r>
            <a:r>
              <a:rPr b="1" lang="en-US" sz="2400">
                <a:solidFill>
                  <a:srgbClr val="143D2E"/>
                </a:solidFill>
              </a:rPr>
              <a:t>Mixture-of-Experts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12A1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23900" y="1430800"/>
            <a:ext cx="5299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786D"/>
              </a:buClr>
              <a:buSzPts val="1164"/>
              <a:buFont typeface="Courier New"/>
              <a:buNone/>
            </a:pPr>
            <a:r>
              <a:rPr lang="en-US" sz="1164">
                <a:solidFill>
                  <a:srgbClr val="15786D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i="0" lang="en-US" sz="1164" u="none" cap="none" strike="noStrike">
                <a:solidFill>
                  <a:srgbClr val="15786D"/>
                </a:solidFill>
                <a:latin typeface="Inter"/>
                <a:ea typeface="Inter"/>
                <a:cs typeface="Inter"/>
                <a:sym typeface="Inter"/>
              </a:rPr>
              <a:t> experts ≡ 5 taxon groups · one fires per sample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23900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1F6B4F"/>
          </a:solidFill>
          <a:ln cap="flat" cmpd="sng" w="6125">
            <a:solidFill>
              <a:srgbClr val="143D2E"/>
            </a:solidFill>
            <a:prstDash val="solid"/>
            <a:round/>
            <a:headEnd len="sm" w="sm" type="none"/>
            <a:tailEnd len="sm" w="sm" type="none"/>
          </a:ln>
          <a:effectLst>
            <a:outerShdw blurRad="110908" rotWithShape="0" algn="bl" dir="5400000" dist="36969">
              <a:srgbClr val="1F6B4F">
                <a:alpha val="27840"/>
              </a:srgbClr>
            </a:outerShdw>
          </a:effectLst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1111404" y="1837465"/>
            <a:ext cx="234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Courier New"/>
              <a:buNone/>
            </a:pPr>
            <a:r>
              <a:rPr b="1" i="0" lang="en-US" sz="121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E1</a:t>
            </a:r>
            <a:endParaRPr i="0" sz="1213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767031" y="2077767"/>
            <a:ext cx="873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4"/>
              <a:buFont typeface="Courier New"/>
              <a:buNone/>
            </a:pPr>
            <a:r>
              <a:rPr b="1" i="0" lang="en-US" sz="11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Aves</a:t>
            </a:r>
            <a:endParaRPr i="0" sz="116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770113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1F6B4F"/>
          </a:solidFill>
          <a:ln cap="flat" cmpd="sng" w="6125">
            <a:solidFill>
              <a:srgbClr val="C5C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157617" y="1837465"/>
            <a:ext cx="234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213"/>
              <a:buFont typeface="Courier New"/>
              <a:buNone/>
            </a:pPr>
            <a:r>
              <a:rPr i="0" lang="en-US" sz="1213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E2</a:t>
            </a:r>
            <a:endParaRPr i="0" sz="1213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813244" y="2053121"/>
            <a:ext cx="873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164"/>
              <a:buFont typeface="Courier New"/>
              <a:buNone/>
            </a:pPr>
            <a:r>
              <a:rPr i="0" lang="en-US" sz="1164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Amphibia</a:t>
            </a:r>
            <a:endParaRPr i="0" sz="1164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816422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1F6B4F"/>
          </a:solidFill>
          <a:ln cap="flat" cmpd="sng" w="6125">
            <a:solidFill>
              <a:srgbClr val="C5C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203926" y="1837465"/>
            <a:ext cx="234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213"/>
              <a:buFont typeface="Courier New"/>
              <a:buNone/>
            </a:pPr>
            <a:r>
              <a:rPr i="0" lang="en-US" sz="1213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E3</a:t>
            </a:r>
            <a:endParaRPr i="0" sz="1213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859553" y="2053121"/>
            <a:ext cx="873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164"/>
              <a:buFont typeface="Courier New"/>
              <a:buNone/>
            </a:pPr>
            <a:r>
              <a:rPr i="0" lang="en-US" sz="1164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Insecta</a:t>
            </a:r>
            <a:endParaRPr i="0" sz="1164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862635" y="1732718"/>
            <a:ext cx="960000" cy="646800"/>
          </a:xfrm>
          <a:prstGeom prst="roundRect">
            <a:avLst>
              <a:gd fmla="val 9524" name="adj"/>
            </a:avLst>
          </a:prstGeom>
          <a:solidFill>
            <a:srgbClr val="1F6B4F"/>
          </a:solidFill>
          <a:ln cap="flat" cmpd="sng" w="6125">
            <a:solidFill>
              <a:srgbClr val="C5C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75" lIns="59175" spcFirstLastPara="1" rIns="59175" wrap="square" tIns="5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250139" y="1837465"/>
            <a:ext cx="234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213"/>
              <a:buFont typeface="Courier New"/>
              <a:buNone/>
            </a:pPr>
            <a:r>
              <a:rPr i="0" lang="en-US" sz="1213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i="0" sz="1213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915253" y="2033958"/>
            <a:ext cx="873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50" lIns="16450" spcFirstLastPara="1" rIns="16450" wrap="square" tIns="1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68F"/>
              </a:buClr>
              <a:buSzPts val="1164"/>
              <a:buFont typeface="Courier New"/>
              <a:buNone/>
            </a:pPr>
            <a:r>
              <a:rPr i="0" lang="en-US" sz="1164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Mammalia/</a:t>
            </a:r>
            <a:r>
              <a:rPr lang="en-US" sz="116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Reptilia</a:t>
            </a:r>
            <a:endParaRPr i="0" sz="1164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790760" y="2985210"/>
            <a:ext cx="896100" cy="8721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7">
                <a:latin typeface="Calibri"/>
                <a:ea typeface="Calibri"/>
                <a:cs typeface="Calibri"/>
                <a:sym typeface="Calibri"/>
              </a:rPr>
              <a:t>1536d</a:t>
            </a:r>
            <a:endParaRPr sz="1307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7">
                <a:latin typeface="Calibri"/>
                <a:ea typeface="Calibri"/>
                <a:cs typeface="Calibri"/>
                <a:sym typeface="Calibri"/>
              </a:rPr>
              <a:t>Perch Embedding</a:t>
            </a:r>
            <a:endParaRPr sz="102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301897" y="2934939"/>
            <a:ext cx="1349700" cy="973200"/>
          </a:xfrm>
          <a:prstGeom prst="diamond">
            <a:avLst/>
          </a:prstGeom>
          <a:solidFill>
            <a:schemeClr val="lt2"/>
          </a:solidFill>
          <a:ln cap="flat" cmpd="sng" w="8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7">
                <a:latin typeface="Calibri"/>
                <a:ea typeface="Calibri"/>
                <a:cs typeface="Calibri"/>
                <a:sym typeface="Calibri"/>
              </a:rPr>
              <a:t>Router</a:t>
            </a:r>
            <a:endParaRPr sz="130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20"/>
          <p:cNvCxnSpPr>
            <a:stCxn id="238" idx="3"/>
            <a:endCxn id="239" idx="1"/>
          </p:cNvCxnSpPr>
          <p:nvPr/>
        </p:nvCxnSpPr>
        <p:spPr>
          <a:xfrm>
            <a:off x="2686860" y="3421260"/>
            <a:ext cx="615000" cy="300"/>
          </a:xfrm>
          <a:prstGeom prst="straightConnector1">
            <a:avLst/>
          </a:prstGeom>
          <a:noFill/>
          <a:ln cap="flat" cmpd="sng" w="89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20"/>
          <p:cNvSpPr txBox="1"/>
          <p:nvPr/>
        </p:nvSpPr>
        <p:spPr>
          <a:xfrm>
            <a:off x="3260126" y="3857458"/>
            <a:ext cx="17184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nn.Linear(1536, 256) 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nn.BatchNorm1d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nn.ReLU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nn.Linear(256, 4)</a:t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266494" y="2111276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E1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266494" y="2802836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E2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266494" y="3483708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E3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266494" y="4164565"/>
            <a:ext cx="1283100" cy="484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E4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20"/>
          <p:cNvCxnSpPr>
            <a:stCxn id="239" idx="3"/>
            <a:endCxn id="242" idx="1"/>
          </p:cNvCxnSpPr>
          <p:nvPr/>
        </p:nvCxnSpPr>
        <p:spPr>
          <a:xfrm flipH="1" rot="10800000">
            <a:off x="4651597" y="2353239"/>
            <a:ext cx="615000" cy="10683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0"/>
          <p:cNvCxnSpPr>
            <a:endCxn id="243" idx="1"/>
          </p:cNvCxnSpPr>
          <p:nvPr/>
        </p:nvCxnSpPr>
        <p:spPr>
          <a:xfrm flipH="1" rot="10800000">
            <a:off x="4648494" y="3044936"/>
            <a:ext cx="618000" cy="376800"/>
          </a:xfrm>
          <a:prstGeom prst="curvedConnector3">
            <a:avLst>
              <a:gd fmla="val 50000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0"/>
          <p:cNvCxnSpPr>
            <a:stCxn id="239" idx="3"/>
            <a:endCxn id="244" idx="1"/>
          </p:cNvCxnSpPr>
          <p:nvPr/>
        </p:nvCxnSpPr>
        <p:spPr>
          <a:xfrm>
            <a:off x="4651597" y="3421539"/>
            <a:ext cx="615000" cy="3042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0"/>
          <p:cNvCxnSpPr>
            <a:stCxn id="239" idx="3"/>
            <a:endCxn id="245" idx="1"/>
          </p:cNvCxnSpPr>
          <p:nvPr/>
        </p:nvCxnSpPr>
        <p:spPr>
          <a:xfrm>
            <a:off x="4651597" y="3421539"/>
            <a:ext cx="615000" cy="985200"/>
          </a:xfrm>
          <a:prstGeom prst="curvedConnector3">
            <a:avLst>
              <a:gd fmla="val 49999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0"/>
          <p:cNvSpPr/>
          <p:nvPr/>
        </p:nvSpPr>
        <p:spPr>
          <a:xfrm>
            <a:off x="7948378" y="3094392"/>
            <a:ext cx="1121400" cy="6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5">
                <a:latin typeface="Calibri"/>
                <a:ea typeface="Calibri"/>
                <a:cs typeface="Calibri"/>
                <a:sym typeface="Calibri"/>
              </a:rPr>
              <a:t>Pred</a:t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20"/>
          <p:cNvCxnSpPr>
            <a:endCxn id="250" idx="1"/>
          </p:cNvCxnSpPr>
          <p:nvPr/>
        </p:nvCxnSpPr>
        <p:spPr>
          <a:xfrm flipH="1" rot="10800000">
            <a:off x="6546478" y="3421542"/>
            <a:ext cx="1401900" cy="1008600"/>
          </a:xfrm>
          <a:prstGeom prst="curvedConnector3">
            <a:avLst>
              <a:gd fmla="val 50000" name="adj1"/>
            </a:avLst>
          </a:prstGeom>
          <a:noFill/>
          <a:ln cap="flat" cmpd="sng" w="11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0"/>
          <p:cNvSpPr/>
          <p:nvPr/>
        </p:nvSpPr>
        <p:spPr>
          <a:xfrm flipH="1" rot="-8514255">
            <a:off x="6049659" y="4857280"/>
            <a:ext cx="1570559" cy="294195"/>
          </a:xfrm>
          <a:prstGeom prst="triangle">
            <a:avLst>
              <a:gd fmla="val 0" name="adj"/>
            </a:avLst>
          </a:prstGeom>
          <a:solidFill>
            <a:schemeClr val="lt2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837572" y="4404220"/>
            <a:ext cx="3153000" cy="159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nn.Linear(1536, 512) 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nn.BatchNorm1d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nn.ReLU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nn.Dropout(0.2)</a:t>
            </a:r>
            <a:endParaRPr b="1" i="1" sz="16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nn.Linear(512, 234)</a:t>
            </a:r>
            <a:endParaRPr sz="173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0"/>
          <p:cNvCxnSpPr>
            <a:endCxn id="250" idx="1"/>
          </p:cNvCxnSpPr>
          <p:nvPr/>
        </p:nvCxnSpPr>
        <p:spPr>
          <a:xfrm>
            <a:off x="6573778" y="2337642"/>
            <a:ext cx="1374600" cy="1083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0"/>
          <p:cNvCxnSpPr>
            <a:endCxn id="250" idx="1"/>
          </p:cNvCxnSpPr>
          <p:nvPr/>
        </p:nvCxnSpPr>
        <p:spPr>
          <a:xfrm>
            <a:off x="6560878" y="3035142"/>
            <a:ext cx="1387500" cy="386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0"/>
          <p:cNvCxnSpPr>
            <a:endCxn id="250" idx="1"/>
          </p:cNvCxnSpPr>
          <p:nvPr/>
        </p:nvCxnSpPr>
        <p:spPr>
          <a:xfrm flipH="1" rot="10800000">
            <a:off x="6535078" y="3421542"/>
            <a:ext cx="1413300" cy="324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Loss Function &amp; Optimizer </a:t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723900" y="1013370"/>
            <a:ext cx="10744200" cy="9525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21"/>
          <p:cNvGrpSpPr/>
          <p:nvPr/>
        </p:nvGrpSpPr>
        <p:grpSpPr>
          <a:xfrm>
            <a:off x="840196" y="1227218"/>
            <a:ext cx="10744047" cy="2815375"/>
            <a:chOff x="6373954" y="2748901"/>
            <a:chExt cx="5181600" cy="2055018"/>
          </a:xfrm>
        </p:grpSpPr>
        <p:pic>
          <p:nvPicPr>
            <p:cNvPr descr="image.png" id="264" name="Google Shape;26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73954" y="27489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65" name="Google Shape;26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34301" y="3474599"/>
              <a:ext cx="2318351" cy="10816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1"/>
            <p:cNvSpPr txBox="1"/>
            <p:nvPr/>
          </p:nvSpPr>
          <p:spPr>
            <a:xfrm>
              <a:off x="6534300" y="2857193"/>
              <a:ext cx="4920600" cy="19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75">
                  <a:solidFill>
                    <a:srgbClr val="0284C7"/>
                  </a:solidFill>
                  <a:latin typeface="Fira Code"/>
                  <a:ea typeface="Fira Code"/>
                  <a:cs typeface="Fira Code"/>
                  <a:sym typeface="Fira Code"/>
                </a:rPr>
                <a:t>Loss Function</a:t>
              </a:r>
              <a:endParaRPr sz="1900"/>
            </a:p>
          </p:txBody>
        </p:sp>
      </p:grpSp>
      <p:sp>
        <p:nvSpPr>
          <p:cNvPr id="267" name="Google Shape;267;p21"/>
          <p:cNvSpPr txBox="1"/>
          <p:nvPr/>
        </p:nvSpPr>
        <p:spPr>
          <a:xfrm>
            <a:off x="1226925" y="1834025"/>
            <a:ext cx="57087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Binary Cross Entropy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291525" y="2389325"/>
            <a:ext cx="45978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Winning solution 2025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Foreground-background class imbalance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Uniform weight across all samples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083075" y="2660550"/>
            <a:ext cx="361500" cy="2667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6250" y="2205925"/>
            <a:ext cx="4807100" cy="14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6496250" y="1834025"/>
            <a:ext cx="57087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Focal Loss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638325" y="2389325"/>
            <a:ext cx="45978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weighting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depending on confidence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samples are mathematically suppressed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1" title="Screenshot 2026-06-04 at 09.31.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1950" y="3080144"/>
            <a:ext cx="2924175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1"/>
          <p:cNvGrpSpPr/>
          <p:nvPr/>
        </p:nvGrpSpPr>
        <p:grpSpPr>
          <a:xfrm>
            <a:off x="840196" y="4209088"/>
            <a:ext cx="10744047" cy="1806156"/>
            <a:chOff x="6373954" y="2748901"/>
            <a:chExt cx="5181600" cy="2055018"/>
          </a:xfrm>
        </p:grpSpPr>
        <p:pic>
          <p:nvPicPr>
            <p:cNvPr descr="image.png" id="275" name="Google Shape;27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73954" y="27489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76" name="Google Shape;276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34301" y="3603847"/>
              <a:ext cx="4920605" cy="9524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21"/>
            <p:cNvSpPr txBox="1"/>
            <p:nvPr/>
          </p:nvSpPr>
          <p:spPr>
            <a:xfrm>
              <a:off x="6534300" y="2857193"/>
              <a:ext cx="49206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75">
                  <a:solidFill>
                    <a:srgbClr val="0284C7"/>
                  </a:solidFill>
                  <a:latin typeface="Fira Code"/>
                  <a:ea typeface="Fira Code"/>
                  <a:cs typeface="Fira Code"/>
                  <a:sym typeface="Fira Code"/>
                </a:rPr>
                <a:t>Optimizer</a:t>
              </a:r>
              <a:endParaRPr sz="1900"/>
            </a:p>
          </p:txBody>
        </p:sp>
      </p:grpSp>
      <p:sp>
        <p:nvSpPr>
          <p:cNvPr id="278" name="Google Shape;278;p21"/>
          <p:cNvSpPr txBox="1"/>
          <p:nvPr/>
        </p:nvSpPr>
        <p:spPr>
          <a:xfrm>
            <a:off x="1226925" y="4595213"/>
            <a:ext cx="57087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Adam</a:t>
            </a:r>
            <a:endParaRPr sz="20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1407725" y="4991050"/>
            <a:ext cx="97122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computes adaptive learning rates per parameter, allowing all experts &amp; router synchronize their training speeds.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 Strategy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71000" y="2343028"/>
            <a:ext cx="2630400" cy="91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There is risk of windows of the same sample ending up on train and val separately. 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71000" y="1951575"/>
            <a:ext cx="2330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Random Split</a:t>
            </a:r>
            <a:endParaRPr sz="16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 rot="5400000">
            <a:off x="1563211" y="3379913"/>
            <a:ext cx="373200" cy="229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1019192" y="3818359"/>
            <a:ext cx="1461000" cy="739200"/>
          </a:xfrm>
          <a:prstGeom prst="diamond">
            <a:avLst/>
          </a:prstGeom>
          <a:solidFill>
            <a:srgbClr val="DD7E6B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Data Leakage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3429050" y="2629819"/>
            <a:ext cx="1710900" cy="37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00" lIns="78600" spcFirstLastPara="1" rIns="78600" wrap="square" tIns="7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467835" y="2343028"/>
            <a:ext cx="2630400" cy="91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Windows of the same sample will go </a:t>
            </a: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together</a:t>
            </a: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 in train or validation.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5467835" y="1951575"/>
            <a:ext cx="2330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GroupKFolds</a:t>
            </a:r>
            <a:endParaRPr sz="16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 rot="5400000">
            <a:off x="6560046" y="3379913"/>
            <a:ext cx="373200" cy="229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481445" y="3818370"/>
            <a:ext cx="2530200" cy="1520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-273052" lvl="0" marL="393196" rtl="0" algn="l">
              <a:spcBef>
                <a:spcPts val="0"/>
              </a:spcBef>
              <a:spcAft>
                <a:spcPts val="0"/>
              </a:spcAft>
              <a:buSzPts val="1204"/>
              <a:buFont typeface="Calibri"/>
              <a:buChar char="-"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We train 5 separate folds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  <a:p>
            <a:pPr indent="-273052" lvl="0" marL="393196" rtl="0" algn="l">
              <a:spcBef>
                <a:spcPts val="0"/>
              </a:spcBef>
              <a:spcAft>
                <a:spcPts val="0"/>
              </a:spcAft>
              <a:buSzPts val="1204"/>
              <a:buFont typeface="Calibri"/>
              <a:buChar char="-"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5 trained models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  <a:p>
            <a:pPr indent="-273052" lvl="0" marL="393196" rtl="0" algn="l">
              <a:spcBef>
                <a:spcPts val="0"/>
              </a:spcBef>
              <a:spcAft>
                <a:spcPts val="0"/>
              </a:spcAft>
              <a:buSzPts val="1204"/>
              <a:buFont typeface="Calibri"/>
              <a:buChar char="-"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Final result is the average of the prediction of each model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  <a:p>
            <a:pPr indent="-273052" lvl="0" marL="393196" rtl="0" algn="l">
              <a:spcBef>
                <a:spcPts val="0"/>
              </a:spcBef>
              <a:spcAft>
                <a:spcPts val="0"/>
              </a:spcAft>
              <a:buSzPts val="1204"/>
              <a:buFont typeface="Calibri"/>
              <a:buChar char="-"/>
            </a:pPr>
            <a:r>
              <a:rPr lang="en-US" sz="1204">
                <a:latin typeface="Calibri"/>
                <a:ea typeface="Calibri"/>
                <a:cs typeface="Calibri"/>
                <a:sym typeface="Calibri"/>
              </a:rPr>
              <a:t>Out - of - Fold Cross Validation pipeline</a:t>
            </a:r>
            <a:endParaRPr sz="120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4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99300" y="2866675"/>
            <a:ext cx="4386399" cy="215118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96" name="Google Shape;296;p22"/>
          <p:cNvCxnSpPr/>
          <p:nvPr/>
        </p:nvCxnSpPr>
        <p:spPr>
          <a:xfrm>
            <a:off x="8608025" y="2050300"/>
            <a:ext cx="48300" cy="353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Experiments &amp; Configurations </a:t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723900" y="1013370"/>
            <a:ext cx="10744200" cy="9525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3" title="augmentation_abl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900" y="1472349"/>
            <a:ext cx="10270198" cy="352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Experiments &amp; Configurations 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200" y="3849013"/>
            <a:ext cx="10695598" cy="20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375" y="1248438"/>
            <a:ext cx="10627261" cy="243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Experiments &amp; Configurations 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676" y="1873825"/>
            <a:ext cx="10580649" cy="24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6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Experiments &amp; Configurations </a:t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188" y="1217700"/>
            <a:ext cx="10951624" cy="25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200" y="3920400"/>
            <a:ext cx="10951598" cy="16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Experiments &amp; Configurations </a:t>
            </a:r>
            <a:endParaRPr/>
          </a:p>
        </p:txBody>
      </p:sp>
      <p:sp>
        <p:nvSpPr>
          <p:cNvPr id="337" name="Google Shape;337;p27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025" y="1799774"/>
            <a:ext cx="10557952" cy="20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910175" y="4222750"/>
            <a:ext cx="104649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window 5 was not a good solution because it memorized the environmental footprint and the background noise, it overfitted in training and on the validation set. Temporal resolution was also lost.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window 1 ended performing much better, the network could focus on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transients.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Model Configuration</a:t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192" y="1776475"/>
            <a:ext cx="10315607" cy="32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9"/>
          <p:cNvGrpSpPr/>
          <p:nvPr/>
        </p:nvGrpSpPr>
        <p:grpSpPr>
          <a:xfrm>
            <a:off x="3886602" y="3875034"/>
            <a:ext cx="4035430" cy="1409331"/>
            <a:chOff x="6534300" y="2721401"/>
            <a:chExt cx="5181600" cy="2055018"/>
          </a:xfrm>
        </p:grpSpPr>
        <p:pic>
          <p:nvPicPr>
            <p:cNvPr descr="image.png" id="353" name="Google Shape;353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34300" y="27214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29"/>
            <p:cNvSpPr txBox="1"/>
            <p:nvPr/>
          </p:nvSpPr>
          <p:spPr>
            <a:xfrm>
              <a:off x="6534300" y="3301366"/>
              <a:ext cx="4686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17"/>
            </a:p>
          </p:txBody>
        </p:sp>
      </p:grpSp>
      <p:grpSp>
        <p:nvGrpSpPr>
          <p:cNvPr id="355" name="Google Shape;355;p29"/>
          <p:cNvGrpSpPr/>
          <p:nvPr/>
        </p:nvGrpSpPr>
        <p:grpSpPr>
          <a:xfrm>
            <a:off x="3837481" y="1692128"/>
            <a:ext cx="4035430" cy="1895754"/>
            <a:chOff x="6534300" y="2721401"/>
            <a:chExt cx="5181600" cy="2055018"/>
          </a:xfrm>
        </p:grpSpPr>
        <p:pic>
          <p:nvPicPr>
            <p:cNvPr descr="image.png" id="356" name="Google Shape;35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34300" y="27214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29"/>
            <p:cNvSpPr txBox="1"/>
            <p:nvPr/>
          </p:nvSpPr>
          <p:spPr>
            <a:xfrm>
              <a:off x="6534300" y="3301366"/>
              <a:ext cx="4686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6"/>
            </a:p>
          </p:txBody>
        </p:sp>
      </p:grpSp>
      <p:grpSp>
        <p:nvGrpSpPr>
          <p:cNvPr id="358" name="Google Shape;358;p29"/>
          <p:cNvGrpSpPr/>
          <p:nvPr/>
        </p:nvGrpSpPr>
        <p:grpSpPr>
          <a:xfrm>
            <a:off x="8281571" y="1692123"/>
            <a:ext cx="2574737" cy="3576348"/>
            <a:chOff x="6534300" y="2721401"/>
            <a:chExt cx="5181600" cy="2055018"/>
          </a:xfrm>
        </p:grpSpPr>
        <p:pic>
          <p:nvPicPr>
            <p:cNvPr descr="image.png" id="359" name="Google Shape;359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34300" y="27214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9"/>
            <p:cNvSpPr txBox="1"/>
            <p:nvPr/>
          </p:nvSpPr>
          <p:spPr>
            <a:xfrm>
              <a:off x="6534300" y="3301366"/>
              <a:ext cx="4686300" cy="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/>
            </a:p>
          </p:txBody>
        </p:sp>
      </p:grpSp>
      <p:grpSp>
        <p:nvGrpSpPr>
          <p:cNvPr id="361" name="Google Shape;361;p29"/>
          <p:cNvGrpSpPr/>
          <p:nvPr/>
        </p:nvGrpSpPr>
        <p:grpSpPr>
          <a:xfrm>
            <a:off x="1235910" y="1670473"/>
            <a:ext cx="2290785" cy="3576348"/>
            <a:chOff x="6534300" y="2721401"/>
            <a:chExt cx="5181600" cy="2055018"/>
          </a:xfrm>
        </p:grpSpPr>
        <p:pic>
          <p:nvPicPr>
            <p:cNvPr descr="image.png" id="362" name="Google Shape;362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34300" y="27214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" name="Google Shape;363;p29"/>
            <p:cNvSpPr txBox="1"/>
            <p:nvPr/>
          </p:nvSpPr>
          <p:spPr>
            <a:xfrm>
              <a:off x="6534300" y="3301366"/>
              <a:ext cx="4686300" cy="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2"/>
            </a:p>
          </p:txBody>
        </p:sp>
      </p:grpSp>
      <p:pic>
        <p:nvPicPr>
          <p:cNvPr descr="image.png" id="364" name="Google Shape;36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9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Results, Baseline Comparison and Analysis</a:t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/>
          <p:cNvPicPr preferRelativeResize="0"/>
          <p:nvPr/>
        </p:nvPicPr>
        <p:blipFill rotWithShape="1">
          <a:blip r:embed="rId6">
            <a:alphaModFix/>
          </a:blip>
          <a:srcRect b="0" l="69274" r="0" t="0"/>
          <a:stretch/>
        </p:blipFill>
        <p:spPr>
          <a:xfrm>
            <a:off x="8468252" y="1812250"/>
            <a:ext cx="2233725" cy="2938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8" name="Google Shape;368;p29" title="Screenshot 2026-06-04 at 10.31.47.png"/>
          <p:cNvPicPr preferRelativeResize="0"/>
          <p:nvPr/>
        </p:nvPicPr>
        <p:blipFill rotWithShape="1">
          <a:blip r:embed="rId7">
            <a:alphaModFix/>
          </a:blip>
          <a:srcRect b="0" l="63265" r="0" t="0"/>
          <a:stretch/>
        </p:blipFill>
        <p:spPr>
          <a:xfrm>
            <a:off x="1438025" y="1819975"/>
            <a:ext cx="1829636" cy="2938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9" name="Google Shape;369;p29"/>
          <p:cNvSpPr txBox="1"/>
          <p:nvPr/>
        </p:nvSpPr>
        <p:spPr>
          <a:xfrm>
            <a:off x="1387300" y="4771325"/>
            <a:ext cx="17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Results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8468250" y="4748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leaderboard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3837201" y="2305500"/>
            <a:ext cx="41094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SzPts val="1312"/>
              <a:buChar char="●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Large variation in pub v. priv results</a:t>
            </a:r>
            <a:r>
              <a:rPr b="1"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 This was </a:t>
            </a:r>
            <a:r>
              <a:rPr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suspected</a:t>
            </a:r>
            <a:r>
              <a:rPr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 in multiple forum posts.</a:t>
            </a:r>
            <a:endParaRPr sz="1312">
              <a:solidFill>
                <a:srgbClr val="2F4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12"/>
              <a:buFont typeface="Inter"/>
              <a:buChar char="●"/>
            </a:pPr>
            <a:r>
              <a:rPr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Winner had ~400 submissions and is the same winner as last year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3908025" y="1879138"/>
            <a:ext cx="527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Competition Notes</a:t>
            </a:r>
            <a:endParaRPr sz="1959"/>
          </a:p>
        </p:txBody>
      </p:sp>
      <p:sp>
        <p:nvSpPr>
          <p:cNvPr id="373" name="Google Shape;373;p29"/>
          <p:cNvSpPr txBox="1"/>
          <p:nvPr/>
        </p:nvSpPr>
        <p:spPr>
          <a:xfrm>
            <a:off x="3978850" y="3914088"/>
            <a:ext cx="527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Analysis </a:t>
            </a:r>
            <a:r>
              <a:rPr b="1" lang="en-US" sz="1780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Notes</a:t>
            </a:r>
            <a:endParaRPr sz="1959"/>
          </a:p>
        </p:txBody>
      </p:sp>
      <p:sp>
        <p:nvSpPr>
          <p:cNvPr id="374" name="Google Shape;374;p29"/>
          <p:cNvSpPr txBox="1"/>
          <p:nvPr/>
        </p:nvSpPr>
        <p:spPr>
          <a:xfrm>
            <a:off x="3978850" y="4257025"/>
            <a:ext cx="3777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891" lvl="0" marL="4572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2"/>
              <a:buChar char="●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Saturated Head</a:t>
            </a:r>
            <a:r>
              <a:rPr b="1"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12">
                <a:solidFill>
                  <a:srgbClr val="2F4333"/>
                </a:solidFill>
                <a:latin typeface="Inter"/>
                <a:ea typeface="Inter"/>
                <a:cs typeface="Inter"/>
                <a:sym typeface="Inter"/>
              </a:rPr>
              <a:t> The domain gap (Focal/Soundscape) was the main source of loss at test time.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6057900"/>
            <a:ext cx="1074420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0"/>
          <p:cNvSpPr txBox="1"/>
          <p:nvPr/>
        </p:nvSpPr>
        <p:spPr>
          <a:xfrm>
            <a:off x="723900" y="533400"/>
            <a:ext cx="112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2A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Further Work</a:t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723900" y="1013370"/>
            <a:ext cx="10744200" cy="9600"/>
          </a:xfrm>
          <a:prstGeom prst="rect">
            <a:avLst/>
          </a:prstGeom>
          <a:solidFill>
            <a:srgbClr val="153C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30"/>
          <p:cNvGrpSpPr/>
          <p:nvPr/>
        </p:nvGrpSpPr>
        <p:grpSpPr>
          <a:xfrm>
            <a:off x="724181" y="1295909"/>
            <a:ext cx="4035430" cy="1513726"/>
            <a:chOff x="6534300" y="2721401"/>
            <a:chExt cx="5181600" cy="2055018"/>
          </a:xfrm>
        </p:grpSpPr>
        <p:pic>
          <p:nvPicPr>
            <p:cNvPr descr="image.png" id="383" name="Google Shape;383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34300" y="27214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30"/>
            <p:cNvSpPr txBox="1"/>
            <p:nvPr/>
          </p:nvSpPr>
          <p:spPr>
            <a:xfrm>
              <a:off x="6534300" y="3301366"/>
              <a:ext cx="4686300" cy="3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6"/>
            </a:p>
          </p:txBody>
        </p:sp>
      </p:grpSp>
      <p:sp>
        <p:nvSpPr>
          <p:cNvPr id="385" name="Google Shape;385;p30"/>
          <p:cNvSpPr txBox="1"/>
          <p:nvPr/>
        </p:nvSpPr>
        <p:spPr>
          <a:xfrm>
            <a:off x="723901" y="1816513"/>
            <a:ext cx="41094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2F4333"/>
              </a:buClr>
              <a:buSzPts val="1312"/>
              <a:buFont typeface="Inter"/>
              <a:buChar char="●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Bounded by time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 SemiBold"/>
              <a:buChar char="●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Bounded by Complexity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1891" lvl="0" marL="45720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 SemiBold"/>
              <a:buChar char="●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Bounded by Experience 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86" name="Google Shape;386;p30"/>
          <p:cNvGrpSpPr/>
          <p:nvPr/>
        </p:nvGrpSpPr>
        <p:grpSpPr>
          <a:xfrm>
            <a:off x="5342502" y="2411286"/>
            <a:ext cx="6042782" cy="3495997"/>
            <a:chOff x="6534300" y="2721401"/>
            <a:chExt cx="5181600" cy="2055018"/>
          </a:xfrm>
        </p:grpSpPr>
        <p:pic>
          <p:nvPicPr>
            <p:cNvPr descr="image.png" id="387" name="Google Shape;387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34300" y="2721401"/>
              <a:ext cx="5181600" cy="2055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0"/>
            <p:cNvSpPr txBox="1"/>
            <p:nvPr/>
          </p:nvSpPr>
          <p:spPr>
            <a:xfrm>
              <a:off x="6534300" y="3301366"/>
              <a:ext cx="4686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6"/>
            </a:p>
          </p:txBody>
        </p:sp>
      </p:grpSp>
      <p:sp>
        <p:nvSpPr>
          <p:cNvPr id="389" name="Google Shape;389;p30"/>
          <p:cNvSpPr txBox="1"/>
          <p:nvPr/>
        </p:nvSpPr>
        <p:spPr>
          <a:xfrm>
            <a:off x="5521792" y="2575697"/>
            <a:ext cx="5625300" cy="29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891" lvl="0" marL="4572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112A16"/>
                </a:solidFill>
                <a:latin typeface="Inter"/>
                <a:ea typeface="Inter"/>
                <a:cs typeface="Inter"/>
                <a:sym typeface="Inter"/>
              </a:rPr>
              <a:t> Make full use of background-mixing in training:</a:t>
            </a:r>
            <a:endParaRPr b="1" sz="1312">
              <a:solidFill>
                <a:srgbClr val="112A1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1" marL="9144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"/>
              <a:buChar char="○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AUC only moved 0.9976 → 0.9971.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1891" lvl="1" marL="9144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 SemiBold"/>
              <a:buChar char="○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background-mixing was naive, a better implementation could yield greater gains.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1891" lvl="0" marL="4572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112A16"/>
                </a:solidFill>
                <a:latin typeface="Inter"/>
                <a:ea typeface="Inter"/>
                <a:cs typeface="Inter"/>
                <a:sym typeface="Inter"/>
              </a:rPr>
              <a:t>  Sourcing external training data for rare classes.</a:t>
            </a:r>
            <a:r>
              <a:rPr b="1" lang="en-US" sz="1312">
                <a:solidFill>
                  <a:srgbClr val="112A1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312">
              <a:solidFill>
                <a:srgbClr val="112A1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1" marL="9144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 SemiBold"/>
              <a:buChar char="○"/>
            </a:pPr>
            <a:r>
              <a:rPr lang="en-US" sz="1312">
                <a:solidFill>
                  <a:srgbClr val="112A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~12% of classes have no training data.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1891" lvl="0" marL="4572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112A16"/>
                </a:solidFill>
                <a:latin typeface="Inter"/>
                <a:ea typeface="Inter"/>
                <a:cs typeface="Inter"/>
                <a:sym typeface="Inter"/>
              </a:rPr>
              <a:t>Full pseudo-labeling run. We only trained on a subset to conserve time.</a:t>
            </a:r>
            <a:endParaRPr b="1" sz="1312">
              <a:solidFill>
                <a:srgbClr val="112A1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891" lvl="0" marL="4572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112A16"/>
                </a:solidFill>
                <a:latin typeface="Inter"/>
                <a:ea typeface="Inter"/>
                <a:cs typeface="Inter"/>
                <a:sym typeface="Inter"/>
              </a:rPr>
              <a:t>Dedicated rare group models</a:t>
            </a:r>
            <a:endParaRPr sz="1312">
              <a:solidFill>
                <a:srgbClr val="112A1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1891" lvl="0" marL="45720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112A16"/>
              </a:buClr>
              <a:buSzPts val="1312"/>
              <a:buFont typeface="Inter"/>
              <a:buChar char="●"/>
            </a:pPr>
            <a:r>
              <a:rPr b="1" lang="en-US" sz="1312">
                <a:solidFill>
                  <a:srgbClr val="112A16"/>
                </a:solidFill>
                <a:latin typeface="Inter"/>
                <a:ea typeface="Inter"/>
                <a:cs typeface="Inter"/>
                <a:sym typeface="Inter"/>
              </a:rPr>
              <a:t> Sigmoid output is more principled. We currently use softmax.</a:t>
            </a:r>
            <a:endParaRPr b="1" sz="1312">
              <a:solidFill>
                <a:srgbClr val="112A1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>
            <a:off x="1651125" y="2809625"/>
            <a:ext cx="2857500" cy="1604100"/>
          </a:xfrm>
          <a:prstGeom prst="curvedConnector3">
            <a:avLst>
              <a:gd fmla="val 584" name="adj1"/>
            </a:avLst>
          </a:prstGeom>
          <a:noFill/>
          <a:ln cap="flat" cmpd="sng" w="38100">
            <a:solidFill>
              <a:srgbClr val="B91C1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1" name="Google Shape;391;p30"/>
          <p:cNvSpPr txBox="1"/>
          <p:nvPr/>
        </p:nvSpPr>
        <p:spPr>
          <a:xfrm>
            <a:off x="723900" y="1350550"/>
            <a:ext cx="3000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16A34A"/>
                </a:solidFill>
                <a:latin typeface="Fira Code"/>
                <a:ea typeface="Fira Code"/>
                <a:cs typeface="Fira Code"/>
                <a:sym typeface="Fira Code"/>
              </a:rPr>
              <a:t>Challenges</a:t>
            </a:r>
            <a:endParaRPr sz="195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